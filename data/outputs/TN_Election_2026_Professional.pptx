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0" y="91440"/>
            <a:ext cx="457200" cy="5029200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TAMIL NADU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C7CEDE"/>
                </a:solidFill>
                <a:latin typeface="Cambria"/>
              </a:rPr>
              <a:t>ASSEMBLY ELECTIONS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A9812F"/>
                </a:solidFill>
                <a:latin typeface="Cambria"/>
              </a:rPr>
              <a:t>2  0  2  6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7CEDE"/>
                </a:solidFill>
                <a:latin typeface="Segoe UI"/>
              </a:rPr>
              <a:t>A Comprehensive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074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3BD"/>
                </a:solidFill>
                <a:latin typeface="Segoe UI"/>
              </a:rPr>
              <a:t>Comparing 2021 vs 2026  ·  234 Constituencies  ·  6 Regions  ·  32 Districts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09C"/>
                </a:solidFill>
                <a:latin typeface="Segoe U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032" y="8229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5895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C98E"/>
                </a:solidFill>
                <a:latin typeface="Segoe UI"/>
              </a:rPr>
              <a:t>Key numbers from the 2026 Tamil Nadu Assembly 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CEDF1"/>
          </a:solidFill>
          <a:ln>
            <a:solidFill>
              <a:srgbClr val="ECEDF1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Segoe UI"/>
              </a:rPr>
              <a:t>Tamil Nadu Assembly Elections — Data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3854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Segoe UI"/>
              </a:rPr>
              <a:t>Page 1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417320"/>
            <a:ext cx="2743200" cy="15087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6032" y="1417320"/>
            <a:ext cx="64008" cy="1508760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93192" y="150876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213F"/>
                </a:solidFill>
                <a:latin typeface="Segoe UI"/>
              </a:rPr>
              <a:t>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2585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Total</a:t>
            </a:r>
          </a:p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Constituencies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1417320"/>
            <a:ext cx="2743200" cy="15087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163824" y="1417320"/>
            <a:ext cx="64008" cy="1508760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00984" y="150876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9812F"/>
                </a:solidFill>
                <a:latin typeface="Segoe UI"/>
              </a:rPr>
              <a:t>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22585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Seats Won</a:t>
            </a:r>
          </a:p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(TVK)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1417320"/>
            <a:ext cx="2743200" cy="15087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71616" y="1417320"/>
            <a:ext cx="64008" cy="150876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08776" y="150876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Segoe UI"/>
              </a:rPr>
              <a:t>163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5" y="22585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Seats</a:t>
            </a:r>
          </a:p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Flipped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417320"/>
            <a:ext cx="2743200" cy="15087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979408" y="1417320"/>
            <a:ext cx="64008" cy="15087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16568" y="150876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Segoe UI"/>
              </a:rPr>
              <a:t>39.0%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2585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Avg Winner</a:t>
            </a:r>
          </a:p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Share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3090672"/>
            <a:ext cx="2743200" cy="15087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56032" y="3090672"/>
            <a:ext cx="64008" cy="15087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93192" y="3182112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Segoe U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931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Winners</a:t>
            </a:r>
          </a:p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&gt; 50%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63824" y="3090672"/>
            <a:ext cx="2743200" cy="15087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163824" y="3090672"/>
            <a:ext cx="64008" cy="150876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300984" y="3182112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Segoe UI"/>
              </a:rPr>
              <a:t>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55264" y="3931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Winners</a:t>
            </a:r>
          </a:p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&lt; 35% 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1616" y="3090672"/>
            <a:ext cx="2743200" cy="15087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071616" y="3090672"/>
            <a:ext cx="64008" cy="1508760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08776" y="3182112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213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5" y="3931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Regions</a:t>
            </a:r>
          </a:p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Covered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3090672"/>
            <a:ext cx="2743200" cy="15087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979408" y="3090672"/>
            <a:ext cx="64008" cy="1508760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16568" y="3182112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148C"/>
                </a:solidFill>
                <a:latin typeface="Segoe UI"/>
              </a:rPr>
              <a:t>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3931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Districts</a:t>
            </a:r>
          </a:p>
          <a:p>
            <a:pPr algn="ctr"/>
            <a:r>
              <a:rPr sz="1000" b="0" i="0">
                <a:solidFill>
                  <a:srgbClr val="757575"/>
                </a:solidFill>
                <a:latin typeface="Segoe UI"/>
              </a:rPr>
              <a:t>Covered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" y="4773168"/>
            <a:ext cx="11676888" cy="475488"/>
          </a:xfrm>
          <a:prstGeom prst="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213F"/>
                </a:solidFill>
                <a:latin typeface="Segoe UI"/>
              </a:rPr>
              <a:t>★  Average winner vote share fell from 48.8% (2021) to 39.0% (2026) — elections became significantly more competitive.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032" y="8229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The 2026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5895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C98E"/>
                </a:solidFill>
                <a:latin typeface="Segoe UI"/>
              </a:rPr>
              <a:t>Seats won by party — comparison with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CEDF1"/>
          </a:solidFill>
          <a:ln>
            <a:solidFill>
              <a:srgbClr val="ECEDF1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Segoe UI"/>
              </a:rPr>
              <a:t>Tamil Nadu Assembly Elections — Data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3854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Segoe UI"/>
              </a:rPr>
              <a:t>Page 2 of 10</a:t>
            </a:r>
          </a:p>
        </p:txBody>
      </p:sp>
      <p:pic>
        <p:nvPicPr>
          <p:cNvPr id="9" name="Picture 8" descr="chart_a_party_s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0160"/>
            <a:ext cx="118872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032" y="8229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Regional Dominance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5895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C98E"/>
                </a:solidFill>
                <a:latin typeface="Segoe UI"/>
              </a:rPr>
              <a:t>Seats won per party across Tamil Nadu's 6 regions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CEDF1"/>
          </a:solidFill>
          <a:ln>
            <a:solidFill>
              <a:srgbClr val="ECEDF1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Segoe UI"/>
              </a:rPr>
              <a:t>Tamil Nadu Assembly Elections — Data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3854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Segoe UI"/>
              </a:rPr>
              <a:t>Page 3 of 10</a:t>
            </a:r>
          </a:p>
        </p:txBody>
      </p:sp>
      <p:pic>
        <p:nvPicPr>
          <p:cNvPr id="9" name="Picture 8" descr="chart_b_regional_s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0160"/>
            <a:ext cx="118872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032" y="8229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The Flip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5895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C98E"/>
                </a:solidFill>
                <a:latin typeface="Segoe UI"/>
              </a:rPr>
              <a:t>163 of 234 constituencies changed hands — who gained, who lost?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CEDF1"/>
          </a:solidFill>
          <a:ln>
            <a:solidFill>
              <a:srgbClr val="ECEDF1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Segoe UI"/>
              </a:rPr>
              <a:t>Tamil Nadu Assembly Elections — Data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3854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Segoe UI"/>
              </a:rPr>
              <a:t>Page 4 of 10</a:t>
            </a:r>
          </a:p>
        </p:txBody>
      </p:sp>
      <p:pic>
        <p:nvPicPr>
          <p:cNvPr id="9" name="Picture 8" descr="chart_c_fli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0160"/>
            <a:ext cx="7498079" cy="5166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280160"/>
            <a:ext cx="4279392" cy="516636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36992" y="141732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213F"/>
                </a:solidFill>
                <a:latin typeface="Segoe UI"/>
              </a:rPr>
              <a:t>Key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4279392" cy="45720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36992" y="19202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• 163 seats (70%) changed party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• 71 seats retained same party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/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• Row = party that HELD seat in 2021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• Column = party that WON in 2026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• Number = seats that moved between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  those two parties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/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• TVK made significant inroads into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  seats previously held by other parties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/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• AIADMK was the biggest loser,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  surrendering seats across regions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032" y="8229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Margin of Victory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5895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C98E"/>
                </a:solidFill>
                <a:latin typeface="Segoe UI"/>
              </a:rPr>
              <a:t>Are elections getting more competitive? Vote share distribution 2021 vs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CEDF1"/>
          </a:solidFill>
          <a:ln>
            <a:solidFill>
              <a:srgbClr val="ECEDF1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Segoe UI"/>
              </a:rPr>
              <a:t>Tamil Nadu Assembly Elections — Data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3854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Segoe UI"/>
              </a:rPr>
              <a:t>Page 5 of 10</a:t>
            </a:r>
          </a:p>
        </p:txBody>
      </p:sp>
      <p:pic>
        <p:nvPicPr>
          <p:cNvPr id="9" name="Picture 8" descr="chart_d_vote_shar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0160"/>
            <a:ext cx="877824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98280" y="1280160"/>
            <a:ext cx="2953512" cy="521208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53728" y="14173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13F"/>
                </a:solidFill>
                <a:latin typeface="Segoe UI"/>
              </a:rPr>
              <a:t>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810512"/>
            <a:ext cx="2953512" cy="45720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17152" y="19202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Avg Share 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5952" y="19202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213F"/>
                </a:solidFill>
                <a:latin typeface="Segoe UI"/>
              </a:rPr>
              <a:t>48.8%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245059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Avg Share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5952" y="2450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213F"/>
                </a:solidFill>
                <a:latin typeface="Segoe UI"/>
              </a:rPr>
              <a:t>39.0%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51129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&gt;50% winners 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5952" y="3511296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213F"/>
                </a:solidFill>
                <a:latin typeface="Segoe UI"/>
              </a:rPr>
              <a:t>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404164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&gt;50% winners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5952" y="404164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213F"/>
                </a:solidFill>
                <a:latin typeface="Segoe UI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510235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&lt;35% winners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510235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213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563270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&lt;35% winners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5952" y="5632704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2213F"/>
                </a:solidFill>
                <a:latin typeface="Segoe UI"/>
              </a:rPr>
              <a:t>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032" y="8229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Biggest Swings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5895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C98E"/>
                </a:solidFill>
                <a:latin typeface="Segoe UI"/>
              </a:rPr>
              <a:t>Constituencies with the largest vote-share change in flipped seats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CEDF1"/>
          </a:solidFill>
          <a:ln>
            <a:solidFill>
              <a:srgbClr val="ECEDF1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Segoe UI"/>
              </a:rPr>
              <a:t>Tamil Nadu Assembly Elections — Data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3854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Segoe UI"/>
              </a:rPr>
              <a:t>Page 6 of 10</a:t>
            </a:r>
          </a:p>
        </p:txBody>
      </p:sp>
      <p:pic>
        <p:nvPicPr>
          <p:cNvPr id="9" name="Picture 8" descr="chart_e_top_sw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0160"/>
            <a:ext cx="11887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032" y="8229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Regional Competitiveness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5895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C98E"/>
                </a:solidFill>
                <a:latin typeface="Segoe UI"/>
              </a:rPr>
              <a:t>Average winner vote share by region — 2021 vs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CEDF1"/>
          </a:solidFill>
          <a:ln>
            <a:solidFill>
              <a:srgbClr val="ECEDF1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Segoe UI"/>
              </a:rPr>
              <a:t>Tamil Nadu Assembly Elections — Data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3854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Segoe UI"/>
              </a:rPr>
              <a:t>Page 7 of 10</a:t>
            </a:r>
          </a:p>
        </p:txBody>
      </p:sp>
      <p:pic>
        <p:nvPicPr>
          <p:cNvPr id="9" name="Picture 8" descr="chart_f_regional_mar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0160"/>
            <a:ext cx="118872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032" y="8229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5895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C98E"/>
                </a:solidFill>
                <a:latin typeface="Segoe UI"/>
              </a:rPr>
              <a:t>Summary of findings from the 2026 Tamil Nadu Assembly 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CEDF1"/>
          </a:solidFill>
          <a:ln>
            <a:solidFill>
              <a:srgbClr val="ECEDF1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Segoe UI"/>
              </a:rPr>
              <a:t>Tamil Nadu Assembly Elections — Data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63854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Segoe UI"/>
              </a:rPr>
              <a:t>Page 8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35024"/>
            <a:ext cx="64008" cy="841248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335024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13F"/>
                </a:solidFill>
                <a:latin typeface="Segoe UI"/>
              </a:rPr>
              <a:t>Electoral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TVK emerged as the largest party with 108 seats, representing a significant realignment in Tamil Nadu politics.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13432"/>
            <a:ext cx="64008" cy="841248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" y="2313432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13F"/>
                </a:solidFill>
                <a:latin typeface="Segoe UI"/>
              </a:rPr>
              <a:t>Seat 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163 of 234 constituencies (70%) changed hands — indicating a strong anti-incumbency wave.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91840"/>
            <a:ext cx="64008" cy="841248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13F"/>
                </a:solidFill>
                <a:latin typeface="Segoe UI"/>
              </a:rPr>
              <a:t>Closer Contests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75888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Average winner vote share fell from 48.8% (2021) to 39.0% (2026), reflecting highly competitive multi-cornered contests.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270248"/>
            <a:ext cx="64008" cy="841248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4270248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13F"/>
                </a:solidFill>
                <a:latin typeface="Segoe UI"/>
              </a:rPr>
              <a:t>Fragmented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54296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61 winners secured victory with under 35% of the vote — a sign of vote splitting across new parties and independents.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248656"/>
            <a:ext cx="64008" cy="841248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" y="5248656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13F"/>
                </a:solidFill>
                <a:latin typeface="Segoe UI"/>
              </a:rPr>
              <a:t>Regional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32704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 single party swept all 6 regions; dominance is geographically concentrated, making regional coalition arithmetic crucial.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13F"/>
          </a:solidFill>
          <a:ln>
            <a:solidFill>
              <a:srgbClr val="12213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A9812F"/>
          </a:solidFill>
          <a:ln>
            <a:solidFill>
              <a:srgbClr val="A9812F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7CEDE"/>
                </a:solidFill>
                <a:latin typeface="Cambria"/>
              </a:rPr>
              <a:t>Questions  &amp; 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80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09C"/>
                </a:solidFill>
                <a:latin typeface="Segoe UI"/>
              </a:rPr>
              <a:t>Data: Tamil Nadu Election Commission  |  Analysis: TN Election 2026 Dashboard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